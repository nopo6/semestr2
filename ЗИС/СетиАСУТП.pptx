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56" r:id="rId3"/>
    <p:sldId id="257" r:id="rId4"/>
    <p:sldId id="258" r:id="rId5"/>
    <p:sldId id="262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530508C3-0910-4804-BF75-1E14695074FB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1633F0E0-DA0E-479F-A058-18F862741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714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08C3-0910-4804-BF75-1E14695074FB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F0E0-DA0E-479F-A058-18F862741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9180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08C3-0910-4804-BF75-1E14695074FB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F0E0-DA0E-479F-A058-18F862741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0900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08C3-0910-4804-BF75-1E14695074FB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F0E0-DA0E-479F-A058-18F862741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9708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08C3-0910-4804-BF75-1E14695074FB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F0E0-DA0E-479F-A058-18F862741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6198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08C3-0910-4804-BF75-1E14695074FB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F0E0-DA0E-479F-A058-18F862741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1036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08C3-0910-4804-BF75-1E14695074FB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F0E0-DA0E-479F-A058-18F862741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2441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08C3-0910-4804-BF75-1E14695074FB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F0E0-DA0E-479F-A058-18F862741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9078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08C3-0910-4804-BF75-1E14695074FB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F0E0-DA0E-479F-A058-18F862741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2014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08C3-0910-4804-BF75-1E14695074FB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F0E0-DA0E-479F-A058-18F862741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5726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08C3-0910-4804-BF75-1E14695074FB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F0E0-DA0E-479F-A058-18F862741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9682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08C3-0910-4804-BF75-1E14695074FB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F0E0-DA0E-479F-A058-18F862741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19527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08C3-0910-4804-BF75-1E14695074FB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F0E0-DA0E-479F-A058-18F862741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77477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08C3-0910-4804-BF75-1E14695074FB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F0E0-DA0E-479F-A058-18F862741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27539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08C3-0910-4804-BF75-1E14695074FB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F0E0-DA0E-479F-A058-18F862741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33701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08C3-0910-4804-BF75-1E14695074FB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F0E0-DA0E-479F-A058-18F8627416CA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5980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08C3-0910-4804-BF75-1E14695074FB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F0E0-DA0E-479F-A058-18F862741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1880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30508C3-0910-4804-BF75-1E14695074FB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633F0E0-DA0E-479F-A058-18F862741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27445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0782" y="2046514"/>
            <a:ext cx="10515600" cy="3136311"/>
          </a:xfrm>
        </p:spPr>
        <p:txBody>
          <a:bodyPr>
            <a:normAutofit/>
          </a:bodyPr>
          <a:lstStyle/>
          <a:p>
            <a:r>
              <a:rPr lang="ru-RU" b="1"/>
              <a:t>Кибербезопасность АСУ ТП: базовые требования безопасности промышленных систем управления</a:t>
            </a:r>
            <a:br>
              <a:rPr lang="ru-RU" b="1"/>
            </a:b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8866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subTitle" idx="1"/>
          </p:nvPr>
        </p:nvSpPr>
        <p:spPr>
          <a:xfrm>
            <a:off x="1236613" y="1132024"/>
            <a:ext cx="10215155" cy="1655762"/>
          </a:xfrm>
        </p:spPr>
        <p:txBody>
          <a:bodyPr/>
          <a:lstStyle/>
          <a:p>
            <a:pPr algn="just"/>
            <a:r>
              <a:rPr lang="ru-RU"/>
              <a:t>Автоматизированные системы управления технологическими процессами представляют собой критически важную инфраструктуру современных промышленных предприятий.</a:t>
            </a:r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1236613" y="2787786"/>
            <a:ext cx="10215155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/>
              <a:t>В отличие от традиционных информационных технологий, где приоритетом является конфиденциальность данных, в системах промышленной автоматизации на первом месте стоят доступность и безопасность физических процессов.</a:t>
            </a:r>
          </a:p>
        </p:txBody>
      </p:sp>
    </p:spTree>
    <p:extLst>
      <p:ext uri="{BB962C8B-B14F-4D97-AF65-F5344CB8AC3E}">
        <p14:creationId xmlns:p14="http://schemas.microsoft.com/office/powerpoint/2010/main" val="3718435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125378"/>
              </p:ext>
            </p:extLst>
          </p:nvPr>
        </p:nvGraphicFramePr>
        <p:xfrm>
          <a:off x="1300481" y="1200088"/>
          <a:ext cx="9585234" cy="478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/>
                <a:gridCol w="2709333"/>
                <a:gridCol w="4166568"/>
              </a:tblGrid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ru-RU" sz="1400">
                          <a:effectLst/>
                        </a:rPr>
                        <a:t>Тип угрозы</a:t>
                      </a:r>
                    </a:p>
                  </a:txBody>
                  <a:tcPr marL="142875" marR="142875" marT="114300" marB="11430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400">
                          <a:effectLst/>
                        </a:rPr>
                        <a:t>Характеристика</a:t>
                      </a:r>
                    </a:p>
                  </a:txBody>
                  <a:tcPr marL="142875" marR="142875" marT="114300" marB="11430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400">
                          <a:effectLst/>
                        </a:rPr>
                        <a:t>Потенциальные последствия</a:t>
                      </a:r>
                    </a:p>
                  </a:txBody>
                  <a:tcPr marL="142875" marR="142875" marT="114300" marB="114300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>
                          <a:effectLst/>
                        </a:rPr>
                        <a:t>Целевое вредоносное ПО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>
                          <a:effectLst/>
                        </a:rPr>
                        <a:t>Специализированные вирусы, разработанные для атак на промышленное оборудование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>
                          <a:effectLst/>
                        </a:rPr>
                        <a:t>Нарушение работы контроллеров, изменение технологических параметров, физическое повреждение оборудования</a:t>
                      </a:r>
                    </a:p>
                  </a:txBody>
                  <a:tcPr marL="142875" marR="142875" marT="114300" marB="114300"/>
                </a:tc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>
                          <a:effectLst/>
                        </a:rPr>
                        <a:t>Программы-вымогатели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>
                          <a:effectLst/>
                        </a:rPr>
                        <a:t>Шифрование критически важных данных и систем с требованием выкупа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>
                          <a:effectLst/>
                        </a:rPr>
                        <a:t>Остановка производства, потеря данных, финансовые убытки от простоя</a:t>
                      </a:r>
                    </a:p>
                  </a:txBody>
                  <a:tcPr marL="142875" marR="142875" marT="114300" marB="114300"/>
                </a:tc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>
                          <a:effectLst/>
                        </a:rPr>
                        <a:t>Несанкционированный доступ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>
                          <a:effectLst/>
                        </a:rPr>
                        <a:t>Проникновение злоумышленников в систему управления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>
                          <a:effectLst/>
                        </a:rPr>
                        <a:t>Манипуляции с технологическими процессами, промышленный шпионаж, саботаж</a:t>
                      </a:r>
                    </a:p>
                  </a:txBody>
                  <a:tcPr marL="142875" marR="142875" marT="114300" marB="114300"/>
                </a:tc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>
                          <a:effectLst/>
                        </a:rPr>
                        <a:t>Атаки через цепочку поставок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>
                          <a:effectLst/>
                        </a:rPr>
                        <a:t>Компрометация через уязвимости поставщиков оборудования и ПО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>
                          <a:effectLst/>
                        </a:rPr>
                        <a:t>Встроенные бэкдоры, скрытые уязвимости, потеря контроля над системой</a:t>
                      </a:r>
                    </a:p>
                  </a:txBody>
                  <a:tcPr marL="142875" marR="142875" marT="114300" marB="114300"/>
                </a:tc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>
                          <a:effectLst/>
                        </a:rPr>
                        <a:t>Внутренние угрозы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>
                          <a:effectLst/>
                        </a:rPr>
                        <a:t>Действия инсайдеров с доступом к критическим системам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>
                          <a:effectLst/>
                        </a:rPr>
                        <a:t>Целенаправленный саботаж, кража интеллектуальной собственности, умышленное нарушение работы</a:t>
                      </a:r>
                    </a:p>
                  </a:txBody>
                  <a:tcPr marL="142875" marR="142875" marT="114300" marB="114300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38782" y="400594"/>
            <a:ext cx="6708631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/>
              <a:t>Основные угрозы для промышленных систем управления</a:t>
            </a: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4219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14866" y="409304"/>
            <a:ext cx="4565467" cy="806752"/>
          </a:xfrm>
        </p:spPr>
        <p:txBody>
          <a:bodyPr>
            <a:normAutofit fontScale="90000"/>
          </a:bodyPr>
          <a:lstStyle/>
          <a:p>
            <a:r>
              <a:rPr lang="ru-RU" sz="2000" b="1"/>
              <a:t>Сегментация сетей: модель </a:t>
            </a:r>
            <a:r>
              <a:rPr lang="en-US" sz="2000" b="1"/>
              <a:t>Purdue</a:t>
            </a:r>
            <a:r>
              <a:rPr lang="en-US" b="1"/>
              <a:t/>
            </a:r>
            <a:br>
              <a:rPr lang="en-US" b="1"/>
            </a:br>
            <a:endParaRPr lang="ru-RU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4029216"/>
              </p:ext>
            </p:extLst>
          </p:nvPr>
        </p:nvGraphicFramePr>
        <p:xfrm>
          <a:off x="1283063" y="1050593"/>
          <a:ext cx="9654903" cy="53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  <a:gridCol w="3558903"/>
              </a:tblGrid>
              <a:tr h="370840">
                <a:tc>
                  <a:txBody>
                    <a:bodyPr/>
                    <a:lstStyle/>
                    <a:p>
                      <a:pPr algn="l" fontAlgn="base"/>
                      <a:r>
                        <a:rPr lang="ru-RU" sz="1000">
                          <a:effectLst/>
                        </a:rPr>
                        <a:t>Уровень</a:t>
                      </a:r>
                    </a:p>
                  </a:txBody>
                  <a:tcPr marL="142875" marR="142875" marT="114300" marB="11430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000">
                          <a:effectLst/>
                        </a:rPr>
                        <a:t>Название</a:t>
                      </a:r>
                    </a:p>
                  </a:txBody>
                  <a:tcPr marL="142875" marR="142875" marT="114300" marB="11430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000">
                          <a:effectLst/>
                        </a:rPr>
                        <a:t>Компоненты</a:t>
                      </a:r>
                    </a:p>
                  </a:txBody>
                  <a:tcPr marL="142875" marR="142875" marT="114300" marB="11430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000">
                          <a:effectLst/>
                        </a:rPr>
                        <a:t>Функции безопасности</a:t>
                      </a:r>
                    </a:p>
                  </a:txBody>
                  <a:tcPr marL="142875" marR="142875" marT="114300" marB="114300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sz="1000">
                          <a:effectLst/>
                        </a:rPr>
                        <a:t>Уровень 0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000">
                          <a:effectLst/>
                        </a:rPr>
                        <a:t>Физический процесс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000">
                          <a:effectLst/>
                        </a:rPr>
                        <a:t>Датчики, исполнительные механизмы, двигатели, насосы, клапаны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000">
                          <a:effectLst/>
                        </a:rPr>
                        <a:t>Физическая защита устройств, контроль доступа к оборудованию</a:t>
                      </a:r>
                    </a:p>
                  </a:txBody>
                  <a:tcPr marL="142875" marR="142875" marT="114300" marB="114300"/>
                </a:tc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sz="1000">
                          <a:effectLst/>
                        </a:rPr>
                        <a:t>Уровень 1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000">
                          <a:effectLst/>
                        </a:rPr>
                        <a:t>Базовое управление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000">
                          <a:effectLst/>
                        </a:rPr>
                        <a:t>Программируемые контроллеры, удаленные терминалы, интеллектуальные устройства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000">
                          <a:effectLst/>
                        </a:rPr>
                        <a:t>Защита контроллеров от несанкционированного программирования, контроль микропрограмм</a:t>
                      </a:r>
                    </a:p>
                  </a:txBody>
                  <a:tcPr marL="142875" marR="142875" marT="114300" marB="114300"/>
                </a:tc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sz="1000">
                          <a:effectLst/>
                        </a:rPr>
                        <a:t>Уровень 2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000">
                          <a:effectLst/>
                        </a:rPr>
                        <a:t>Диспетчерское управление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000">
                          <a:effectLst/>
                        </a:rPr>
                        <a:t>Системы диспетчерского управления, человеко-машинные интерфейсы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000">
                          <a:effectLst/>
                        </a:rPr>
                        <a:t>Аутентификация операторов, шифрование связи, мониторинг действий пользователей</a:t>
                      </a:r>
                    </a:p>
                  </a:txBody>
                  <a:tcPr marL="142875" marR="142875" marT="114300" marB="114300"/>
                </a:tc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sz="1000">
                          <a:effectLst/>
                        </a:rPr>
                        <a:t>Уровень 3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000">
                          <a:effectLst/>
                        </a:rPr>
                        <a:t>Управление производством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000">
                          <a:effectLst/>
                        </a:rPr>
                        <a:t>Системы управления производственными процессами, серверы архивации данных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000">
                          <a:effectLst/>
                        </a:rPr>
                        <a:t>Первая линия защиты при переходе к корпоративной сети</a:t>
                      </a:r>
                    </a:p>
                  </a:txBody>
                  <a:tcPr marL="142875" marR="142875" marT="114300" marB="114300"/>
                </a:tc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sz="1000">
                          <a:effectLst/>
                        </a:rPr>
                        <a:t>Уровень 3.5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000">
                          <a:effectLst/>
                        </a:rPr>
                        <a:t>Демилитаризованная зона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000">
                          <a:effectLst/>
                        </a:rPr>
                        <a:t>Межсетевые экраны, системы обнаружения вторжений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000">
                          <a:effectLst/>
                        </a:rPr>
                        <a:t>Критическая точка разделения между операционными и информационными технологиями</a:t>
                      </a:r>
                    </a:p>
                  </a:txBody>
                  <a:tcPr marL="142875" marR="142875" marT="114300" marB="114300"/>
                </a:tc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sz="1000">
                          <a:effectLst/>
                        </a:rPr>
                        <a:t>Уровень 4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000">
                          <a:effectLst/>
                        </a:rPr>
                        <a:t>Корпоративная сеть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000">
                          <a:effectLst/>
                        </a:rPr>
                        <a:t>Системы планирования ресурсов предприятия, базы данных, серверы приложений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000">
                          <a:effectLst/>
                        </a:rPr>
                        <a:t>Стандартные меры защиты информационных технологий</a:t>
                      </a:r>
                    </a:p>
                  </a:txBody>
                  <a:tcPr marL="142875" marR="142875" marT="114300" marB="114300"/>
                </a:tc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sz="1000">
                          <a:effectLst/>
                        </a:rPr>
                        <a:t>Уровень 5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000">
                          <a:effectLst/>
                        </a:rPr>
                        <a:t>Корпоративные системы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000">
                          <a:effectLst/>
                        </a:rPr>
                        <a:t>Системы бизнес-планирования, подключение к интернету, облачные сервисы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000">
                          <a:effectLst/>
                        </a:rPr>
                        <a:t>Периметровая защита, защита от внешних угроз</a:t>
                      </a:r>
                    </a:p>
                  </a:txBody>
                  <a:tcPr marL="142875" marR="142875" marT="114300" marB="11430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920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95825" y="260350"/>
            <a:ext cx="3638550" cy="892175"/>
          </a:xfrm>
        </p:spPr>
        <p:txBody>
          <a:bodyPr>
            <a:normAutofit fontScale="90000"/>
          </a:bodyPr>
          <a:lstStyle/>
          <a:p>
            <a:r>
              <a:rPr lang="ru-RU" sz="2000" smtClean="0"/>
              <a:t>Основные </a:t>
            </a:r>
            <a:r>
              <a:rPr lang="ru-RU" sz="2000" b="1"/>
              <a:t>Технические меры</a:t>
            </a:r>
            <a:r>
              <a:rPr lang="ru-RU" b="1"/>
              <a:t/>
            </a:r>
            <a:br>
              <a:rPr lang="ru-RU" b="1"/>
            </a:b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90625" y="847725"/>
            <a:ext cx="10515600" cy="5546725"/>
          </a:xfrm>
        </p:spPr>
        <p:txBody>
          <a:bodyPr>
            <a:normAutofit lnSpcReduction="10000"/>
          </a:bodyPr>
          <a:lstStyle/>
          <a:p>
            <a:r>
              <a:rPr lang="ru-RU" b="1"/>
              <a:t>Сегментация сетей</a:t>
            </a:r>
            <a:r>
              <a:rPr lang="ru-RU"/>
              <a:t>. Позволяет изолировать технологические сегменты от корпоративной сети, ограничить коммуникации между сегментами по принципу «необходимого минимума». Например:</a:t>
            </a:r>
          </a:p>
          <a:p>
            <a:pPr lvl="1"/>
            <a:r>
              <a:rPr lang="ru-RU"/>
              <a:t>внедрение демилитаризованных зон (DMZ) для безопасного обмена данными между ИТ и ОТ;</a:t>
            </a:r>
          </a:p>
          <a:p>
            <a:pPr lvl="1"/>
            <a:r>
              <a:rPr lang="ru-RU"/>
              <a:t>использование межсетевых экранов, поддерживающих промышленные протоколы;</a:t>
            </a:r>
          </a:p>
          <a:p>
            <a:pPr lvl="1"/>
            <a:r>
              <a:rPr lang="ru-RU"/>
              <a:t>настройка правил фильтрации трафика на основе IP, портов и типов сообщений;</a:t>
            </a:r>
          </a:p>
          <a:p>
            <a:pPr lvl="1"/>
            <a:r>
              <a:rPr lang="ru-RU"/>
              <a:t>контроль целостности технологических данных при передаче.</a:t>
            </a:r>
          </a:p>
          <a:p>
            <a:r>
              <a:rPr lang="ru-RU" b="1"/>
              <a:t>Контроль доступа</a:t>
            </a:r>
            <a:r>
              <a:rPr lang="ru-RU"/>
              <a:t>. Ограничение прав доступа на основе ролей и назначения позволяет минимизировать вероятность несанкционированных действий. Важна многофакторная аутентификация.</a:t>
            </a:r>
          </a:p>
          <a:p>
            <a:r>
              <a:rPr lang="ru-RU" b="1"/>
              <a:t>Системы обнаружения и предотвращения вторжений (IDS/IPS)</a:t>
            </a:r>
            <a:r>
              <a:rPr lang="ru-RU"/>
              <a:t>. Помогают отслеживать аномальную активность в сети и на ранних этапах атаки предпринимать действия по предотвращению угроз. Особенности IDS для АСУ ТП: поддержка промышленных протоколов, минимальные задержки при анализе трафика, гибкие политики реагирования (от оповещения до блокировки).</a:t>
            </a:r>
          </a:p>
          <a:p>
            <a:r>
              <a:rPr lang="ru-RU" b="1"/>
              <a:t>Мониторинг и журналирование событий</a:t>
            </a:r>
            <a:r>
              <a:rPr lang="ru-RU"/>
              <a:t>. Сбор и анализ логов с устройств АСУ ТП позволяет своевременно выявить подозрительную активность и реагировать на инциденты.</a:t>
            </a:r>
          </a:p>
          <a:p>
            <a:r>
              <a:rPr lang="ru-RU" b="1"/>
              <a:t>Анализ промышленных протоколов</a:t>
            </a:r>
            <a:r>
              <a:rPr lang="ru-RU"/>
              <a:t>. Системы должны распознавать структуру и семантику промышленных протоколов, чтобы отличать легитимный трафик от подозрительного.</a:t>
            </a: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2382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3140937" y="965865"/>
            <a:ext cx="5852976" cy="572951"/>
          </a:xfrm>
        </p:spPr>
        <p:txBody>
          <a:bodyPr>
            <a:normAutofit fontScale="90000"/>
          </a:bodyPr>
          <a:lstStyle/>
          <a:p>
            <a:r>
              <a:rPr lang="ru-RU" sz="2200" b="1"/>
              <a:t>Типы резервирования в системах управления</a:t>
            </a:r>
            <a:r>
              <a:rPr lang="ru-RU" sz="2400" b="1"/>
              <a:t/>
            </a:r>
            <a:br>
              <a:rPr lang="ru-RU" sz="2400" b="1"/>
            </a:br>
            <a:r>
              <a:rPr lang="en-US" sz="3600" b="1"/>
              <a:t/>
            </a:r>
            <a:br>
              <a:rPr lang="en-US" sz="3600" b="1"/>
            </a:br>
            <a:endParaRPr lang="ru-RU" sz="360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430203"/>
              </p:ext>
            </p:extLst>
          </p:nvPr>
        </p:nvGraphicFramePr>
        <p:xfrm>
          <a:off x="2003425" y="1469148"/>
          <a:ext cx="81280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pPr algn="l" fontAlgn="base"/>
                      <a:r>
                        <a:rPr lang="ru-RU" sz="1200">
                          <a:effectLst/>
                        </a:rPr>
                        <a:t>Тип резервирования</a:t>
                      </a:r>
                    </a:p>
                  </a:txBody>
                  <a:tcPr marL="142875" marR="142875" marT="114300" marB="11430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200">
                          <a:effectLst/>
                        </a:rPr>
                        <a:t>Описание</a:t>
                      </a:r>
                    </a:p>
                  </a:txBody>
                  <a:tcPr marL="142875" marR="142875" marT="114300" marB="11430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200">
                          <a:effectLst/>
                        </a:rPr>
                        <a:t>Применение</a:t>
                      </a:r>
                    </a:p>
                  </a:txBody>
                  <a:tcPr marL="142875" marR="142875" marT="114300" marB="11430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200">
                          <a:effectLst/>
                        </a:rPr>
                        <a:t>Время переключения</a:t>
                      </a:r>
                    </a:p>
                  </a:txBody>
                  <a:tcPr marL="142875" marR="142875" marT="114300" marB="114300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sz="1200">
                          <a:effectLst/>
                        </a:rPr>
                        <a:t>Горячее резервирование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200">
                          <a:effectLst/>
                        </a:rPr>
                        <a:t>Резервные системы работают параллельно с основными и готовы немедленно принять нагрузку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200">
                          <a:effectLst/>
                        </a:rPr>
                        <a:t>Критические контроллеры, серверы диспетчерского управления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200">
                          <a:effectLst/>
                        </a:rPr>
                        <a:t>Менее 1 секунды</a:t>
                      </a:r>
                    </a:p>
                  </a:txBody>
                  <a:tcPr marL="142875" marR="142875" marT="114300" marB="114300"/>
                </a:tc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sz="1200">
                          <a:effectLst/>
                        </a:rPr>
                        <a:t>Теплое резервирование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200">
                          <a:effectLst/>
                        </a:rPr>
                        <a:t>Резервные системы находятся в режиме ожидания с частичной синхронизацией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200">
                          <a:effectLst/>
                        </a:rPr>
                        <a:t>Серверы приложений, базы данных архивации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200">
                          <a:effectLst/>
                        </a:rPr>
                        <a:t>От 1 до 30 секунд</a:t>
                      </a:r>
                    </a:p>
                  </a:txBody>
                  <a:tcPr marL="142875" marR="142875" marT="114300" marB="114300"/>
                </a:tc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sz="1200">
                          <a:effectLst/>
                        </a:rPr>
                        <a:t>Холодное резервирование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200">
                          <a:effectLst/>
                        </a:rPr>
                        <a:t>Резервное оборудование хранится в нерабочем состоянии и активируется при необходимости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200">
                          <a:effectLst/>
                        </a:rPr>
                        <a:t>Некритичные компоненты, запасные части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200">
                          <a:effectLst/>
                        </a:rPr>
                        <a:t>От минут до часов</a:t>
                      </a:r>
                    </a:p>
                  </a:txBody>
                  <a:tcPr marL="142875" marR="142875" marT="114300" marB="114300"/>
                </a:tc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sz="1200">
                          <a:effectLst/>
                        </a:rPr>
                        <a:t>Географическое резервирование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200">
                          <a:effectLst/>
                        </a:rPr>
                        <a:t>Резервные системы размещены в отдельных географических локациях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200">
                          <a:effectLst/>
                        </a:rPr>
                        <a:t>Центры управления, серверы архивации данных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200">
                          <a:effectLst/>
                        </a:rPr>
                        <a:t>Зависит от конфигурации</a:t>
                      </a:r>
                    </a:p>
                  </a:txBody>
                  <a:tcPr marL="142875" marR="142875" marT="114300" marB="11430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7271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3558403" y="280488"/>
            <a:ext cx="5051788" cy="1325563"/>
          </a:xfrm>
        </p:spPr>
        <p:txBody>
          <a:bodyPr>
            <a:normAutofit fontScale="90000"/>
          </a:bodyPr>
          <a:lstStyle/>
          <a:p>
            <a:r>
              <a:rPr lang="ru-RU" sz="2200" b="1"/>
              <a:t>Этапы безопасного обновления систем</a:t>
            </a:r>
            <a:r>
              <a:rPr lang="ru-RU" sz="2400" b="1"/>
              <a:t/>
            </a:r>
            <a:br>
              <a:rPr lang="ru-RU" sz="2400" b="1"/>
            </a:br>
            <a:r>
              <a:rPr lang="en-US" sz="3600" b="1"/>
              <a:t/>
            </a:r>
            <a:br>
              <a:rPr lang="en-US" sz="3600" b="1"/>
            </a:br>
            <a:endParaRPr lang="ru-RU" sz="360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4320839"/>
              </p:ext>
            </p:extLst>
          </p:nvPr>
        </p:nvGraphicFramePr>
        <p:xfrm>
          <a:off x="412160" y="866003"/>
          <a:ext cx="11344275" cy="563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1425"/>
                <a:gridCol w="3781425"/>
                <a:gridCol w="3781425"/>
              </a:tblGrid>
              <a:tr h="370840">
                <a:tc>
                  <a:txBody>
                    <a:bodyPr/>
                    <a:lstStyle/>
                    <a:p>
                      <a:pPr algn="l" fontAlgn="base"/>
                      <a:r>
                        <a:rPr lang="ru-RU" sz="1100">
                          <a:effectLst/>
                        </a:rPr>
                        <a:t>Этап</a:t>
                      </a:r>
                    </a:p>
                  </a:txBody>
                  <a:tcPr marL="142875" marR="142875" marT="114300" marB="11430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100">
                          <a:effectLst/>
                        </a:rPr>
                        <a:t>Действия</a:t>
                      </a:r>
                    </a:p>
                  </a:txBody>
                  <a:tcPr marL="142875" marR="142875" marT="114300" marB="11430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100">
                          <a:effectLst/>
                        </a:rPr>
                        <a:t>Ответственные</a:t>
                      </a:r>
                    </a:p>
                  </a:txBody>
                  <a:tcPr marL="142875" marR="142875" marT="114300" marB="114300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sz="1100">
                          <a:effectLst/>
                        </a:rPr>
                        <a:t>Инвентаризация активов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100">
                          <a:effectLst/>
                        </a:rPr>
                        <a:t>Составление полного перечня программного и аппаратного обеспечения, включая версии микропрограмм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100">
                          <a:effectLst/>
                        </a:rPr>
                        <a:t>Инженеры по автоматизации, специалисты по безопасности</a:t>
                      </a:r>
                    </a:p>
                  </a:txBody>
                  <a:tcPr marL="142875" marR="142875" marT="114300" marB="114300"/>
                </a:tc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sz="1100">
                          <a:effectLst/>
                        </a:rPr>
                        <a:t>Мониторинг уязвимостей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100">
                          <a:effectLst/>
                        </a:rPr>
                        <a:t>Отслеживание бюллетеней безопасности производителей, баз данных уязвимостей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100">
                          <a:effectLst/>
                        </a:rPr>
                        <a:t>Специалисты по информационной безопасности</a:t>
                      </a:r>
                    </a:p>
                  </a:txBody>
                  <a:tcPr marL="142875" marR="142875" marT="114300" marB="114300"/>
                </a:tc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sz="1100">
                          <a:effectLst/>
                        </a:rPr>
                        <a:t>Оценка рисков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100">
                          <a:effectLst/>
                        </a:rPr>
                        <a:t>Определение критичности уязвимости для конкретной системы, анализ применимости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100">
                          <a:effectLst/>
                        </a:rPr>
                        <a:t>Межфункциональная команда из специалистов по безопасности и производству</a:t>
                      </a:r>
                    </a:p>
                  </a:txBody>
                  <a:tcPr marL="142875" marR="142875" marT="114300" marB="114300"/>
                </a:tc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sz="1100">
                          <a:effectLst/>
                        </a:rPr>
                        <a:t>Планирование обновления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100">
                          <a:effectLst/>
                        </a:rPr>
                        <a:t>Выбор времени установки, определение последовательности, подготовка плана отката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100">
                          <a:effectLst/>
                        </a:rPr>
                        <a:t>Руководители производства, технические специалисты</a:t>
                      </a:r>
                    </a:p>
                  </a:txBody>
                  <a:tcPr marL="142875" marR="142875" marT="114300" marB="114300"/>
                </a:tc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sz="1100">
                          <a:effectLst/>
                        </a:rPr>
                        <a:t>Тестирование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100">
                          <a:effectLst/>
                        </a:rPr>
                        <a:t>Проверка обновления на тестовом стенде, имитирующем производственную среду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100">
                          <a:effectLst/>
                        </a:rPr>
                        <a:t>Инженеры по автоматизации</a:t>
                      </a:r>
                    </a:p>
                  </a:txBody>
                  <a:tcPr marL="142875" marR="142875" marT="114300" marB="114300"/>
                </a:tc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sz="1100">
                          <a:effectLst/>
                        </a:rPr>
                        <a:t>Создание резервной копии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100">
                          <a:effectLst/>
                        </a:rPr>
                        <a:t>Полное резервное копирование конфигурации системы перед внесением изменений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100">
                          <a:effectLst/>
                        </a:rPr>
                        <a:t>Системные администраторы</a:t>
                      </a:r>
                    </a:p>
                  </a:txBody>
                  <a:tcPr marL="142875" marR="142875" marT="114300" marB="114300"/>
                </a:tc>
              </a:tr>
              <a:tr h="351579">
                <a:tc>
                  <a:txBody>
                    <a:bodyPr/>
                    <a:lstStyle/>
                    <a:p>
                      <a:pPr algn="l" fontAlgn="t"/>
                      <a:r>
                        <a:rPr lang="ru-RU" sz="1100">
                          <a:effectLst/>
                        </a:rPr>
                        <a:t>Поэтапное развертывание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100">
                          <a:effectLst/>
                        </a:rPr>
                        <a:t>Установка обновления на одном сегменте с последующим мониторингом перед распространением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100">
                          <a:effectLst/>
                        </a:rPr>
                        <a:t>Технические специалисты при участии операторов</a:t>
                      </a:r>
                    </a:p>
                  </a:txBody>
                  <a:tcPr marL="142875" marR="142875" marT="114300" marB="114300"/>
                </a:tc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sz="1100">
                          <a:effectLst/>
                        </a:rPr>
                        <a:t>Мониторинг после обновления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100">
                          <a:effectLst/>
                        </a:rPr>
                        <a:t>Наблюдение за работой системы, анализ журналов, проверка параметров процесса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100">
                          <a:effectLst/>
                        </a:rPr>
                        <a:t>Операторы, инженеры по автоматизации</a:t>
                      </a:r>
                    </a:p>
                  </a:txBody>
                  <a:tcPr marL="142875" marR="142875" marT="114300" marB="114300"/>
                </a:tc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ru-RU" sz="1100">
                          <a:effectLst/>
                        </a:rPr>
                        <a:t>Документирование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100">
                          <a:effectLst/>
                        </a:rPr>
                        <a:t>Фиксация выполненных изменений, создание отчета об обновлении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100">
                          <a:effectLst/>
                        </a:rPr>
                        <a:t>Все участники процесса</a:t>
                      </a:r>
                    </a:p>
                  </a:txBody>
                  <a:tcPr marL="142875" marR="142875" marT="114300" marB="11430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7527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371850" y="2724150"/>
            <a:ext cx="5467350" cy="833438"/>
          </a:xfrm>
        </p:spPr>
        <p:txBody>
          <a:bodyPr/>
          <a:lstStyle/>
          <a:p>
            <a:r>
              <a:rPr lang="ru-RU" smtClean="0"/>
              <a:t>Спасибо за внимание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340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ебеса">
  <a:themeElements>
    <a:clrScheme name="Небеса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Небеса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Небеса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TM03457452[[fn=Небесная]]</Template>
  <TotalTime>82</TotalTime>
  <Words>740</Words>
  <Application>Microsoft Office PowerPoint</Application>
  <PresentationFormat>Широкоэкранный</PresentationFormat>
  <Paragraphs>118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Небеса</vt:lpstr>
      <vt:lpstr>Кибербезопасность АСУ ТП: базовые требования безопасности промышленных систем управления </vt:lpstr>
      <vt:lpstr>Презентация PowerPoint</vt:lpstr>
      <vt:lpstr>Презентация PowerPoint</vt:lpstr>
      <vt:lpstr>Сегментация сетей: модель Purdue </vt:lpstr>
      <vt:lpstr>Основные Технические меры </vt:lpstr>
      <vt:lpstr>Типы резервирования в системах управления  </vt:lpstr>
      <vt:lpstr>Этапы безопасного обновления систем  </vt:lpstr>
      <vt:lpstr>Спасибо за внимание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Кибербезопасность АСУ ТП: базовые требования безопасности промышленных систем управления </dc:title>
  <dc:creator>Учетная запись Майкрософт</dc:creator>
  <cp:lastModifiedBy>Учетная запись Майкрософт</cp:lastModifiedBy>
  <cp:revision>8</cp:revision>
  <dcterms:created xsi:type="dcterms:W3CDTF">2026-03-25T10:28:32Z</dcterms:created>
  <dcterms:modified xsi:type="dcterms:W3CDTF">2026-04-01T08:59:25Z</dcterms:modified>
</cp:coreProperties>
</file>